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9"/>
    <p:sldId id="261" r:id="rId8"/>
    <p:sldId id="262" r:id="rId7"/>
    <p:sldId id="263" r:id="rId6"/>
    <p:sldId id="264" r:id="rId18"/>
    <p:sldId id="265" r:id="rId19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font" Target="fonts/Poppins-regular.fntdata"/><Relationship Id="rId15" Type="http://schemas.openxmlformats.org/officeDocument/2006/relationships/font" Target="fonts/Poppins-bold.fntdata"/><Relationship Id="rId16" Type="http://schemas.openxmlformats.org/officeDocument/2006/relationships/font" Target="fonts/Poppins-italic.fntdata"/><Relationship Id="rId17" Type="http://schemas.openxmlformats.org/officeDocument/2006/relationships/font" Target="fonts/Poppins-boldItalic.fntdata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LIGHTNING TALK  ·  RAG SERIES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Retrieval Isn't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2600" b="0" i="1">
                <a:solidFill>
                  <a:srgbClr val="ADADAD"/>
                </a:solidFill>
                <a:latin typeface="Arial"/>
              </a:rPr>
              <a:t>A Field Guide to Corrective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Mahamadtohid Naikwadi  ·  NonStop io</a:t>
            </a:r>
          </a:p>
          <a:p>
            <a:r>
              <a:rPr sz="1100" b="0" i="1">
                <a:solidFill>
                  <a:srgbClr val="ADADAD"/>
                </a:solidFill>
                <a:latin typeface="Arial"/>
              </a:rPr>
              <a:t>Healthcare Knowledge Navigator — RAG + CRAG on Gemini/NVIDIA + Pinecone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01 / 10   ·   Retrieval Isn't Enough   ·  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RAG fails silently — and confidently.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19"/>
            <a:ext cx="3931920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>
              <a:spcAft>
                <a:spcPts val="1000"/>
              </a:spcAft>
            </a:pPr>
            <a:r>
              <a:rPr sz="1100" b="1" i="0">
                <a:solidFill>
                  <a:srgbClr val="009688"/>
                </a:solidFill>
                <a:latin typeface="Arial"/>
              </a:rPr>
              <a:t>What goes wrong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•  Retrieval returns off-topic chunks — LLM still answers.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•  No mechanism to grade whether context actually helps.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•  Confidence is guessed after the fact, or ignored.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•  Corpus gaps are indistinguishable from lazy queries.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74519"/>
            <a:ext cx="4023360" cy="2468880"/>
          </a:xfrm>
          <a:prstGeom prst="rect">
            <a:avLst/>
          </a:prstGeom>
          <a:solidFill>
            <a:srgbClr val="2A2A2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37160" bIns="137160" wrap="square"/>
          <a:lstStyle/>
          <a:p>
            <a:pPr algn="ctr">
              <a:spcAft>
                <a:spcPts val="800"/>
              </a:spcAft>
            </a:pPr>
            <a:r>
              <a:rPr sz="1000" b="1" i="0">
                <a:solidFill>
                  <a:srgbClr val="009688"/>
                </a:solidFill>
                <a:latin typeface="Arial"/>
              </a:rPr>
              <a:t>Real example — this build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QUERY</a:t>
            </a:r>
          </a:p>
          <a:p>
            <a:pPr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Who is the captain of the Indian cricket team?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RETRIEVED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ADADAD"/>
                </a:solidFill>
                <a:latin typeface="Consolas"/>
              </a:rPr>
              <a:t>asthma guidelines · anticoagulation · sepsis protocols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CRAG SAID</a:t>
            </a:r>
          </a:p>
          <a:p>
            <a:pPr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Shubman Gill is the current Test/ODI captain ... [2] [4]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FFAB40"/>
                </a:solidFill>
                <a:latin typeface="Arial"/>
              </a:rPr>
              <a:t>→ Verdict: MODERATE  · 0.60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02 / 10   ·   Retrieval Isn't Enough   ·  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STANDARD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One pass. No feedback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4173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1965960"/>
            <a:ext cx="14173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Embed + Retrieve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1965960"/>
            <a:ext cx="14173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Context 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1965960"/>
            <a:ext cx="14173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LLM  (generate)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965960"/>
            <a:ext cx="14173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Answer  +  cites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354580.0"/>
            <a:ext cx="182880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354580.0"/>
            <a:ext cx="411479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59" y="2354580.0"/>
            <a:ext cx="45721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2354580.0"/>
            <a:ext cx="320040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9688"/>
                </a:solidFill>
                <a:latin typeface="Arial"/>
              </a:rPr>
              <a:t>What's missing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•  No grader — every retrieved chunk is treated as gospel.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•  No fallback — corpus miss = LLM invents or refuses awkwardly.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•  No topic gate — cricket, coffee, C++ all get "answered."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03 / 10   ·   Retrieval Isn't Enough   ·   RAG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FAILURE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Three ways plain RAG lies to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2A2A2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37160" tIns="91440" bIns="73152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AB40"/>
                </a:solidFill>
                <a:latin typeface="Arial"/>
              </a:rPr>
              <a:t>Confident hallucination</a:t>
            </a:r>
          </a:p>
          <a:p>
            <a:r>
              <a:rPr sz="1200" b="0" i="0">
                <a:solidFill>
                  <a:srgbClr val="FFFFFF"/>
                </a:solidFill>
                <a:latin typeface="Arial"/>
              </a:rPr>
              <a:t>Retrieval hits low-relevance chunks; the LLM stitches them together anyway.</a:t>
            </a:r>
          </a:p>
          <a:p>
            <a:r>
              <a:rPr sz="1100" b="0" i="1">
                <a:solidFill>
                  <a:srgbClr val="ADADAD"/>
                </a:solidFill>
                <a:latin typeface="Arial"/>
              </a:rPr>
              <a:t>The confidence chip says HIGH. The answer is fabricated.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2A2A2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37160" tIns="91440" bIns="73152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AB40"/>
                </a:solidFill>
                <a:latin typeface="Arial"/>
              </a:rPr>
              <a:t>Silent off-topic drift</a:t>
            </a:r>
          </a:p>
          <a:p>
            <a:r>
              <a:rPr sz="1200" b="0" i="0">
                <a:solidFill>
                  <a:srgbClr val="FFFFFF"/>
                </a:solidFill>
                <a:latin typeface="Arial"/>
              </a:rPr>
              <a:t>Questions outside the corpus scope get answered from partial matches.</a:t>
            </a:r>
          </a:p>
          <a:p>
            <a:r>
              <a:rPr sz="1100" b="0" i="1">
                <a:solidFill>
                  <a:srgbClr val="ADADAD"/>
                </a:solidFill>
                <a:latin typeface="Arial"/>
              </a:rPr>
              <a:t>Cricket + a medical corpus = a fluent cricket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2A2A2A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37160" tIns="91440" bIns="73152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AB40"/>
                </a:solidFill>
                <a:latin typeface="Arial"/>
              </a:rPr>
              <a:t>Underused corpus</a:t>
            </a:r>
          </a:p>
          <a:p>
            <a:r>
              <a:rPr sz="1200" b="0" i="0">
                <a:solidFill>
                  <a:srgbClr val="FFFFFF"/>
                </a:solidFill>
                <a:latin typeface="Arial"/>
              </a:rPr>
              <a:t>Weak queries retrieve weak context; strong reformulations never happen.</a:t>
            </a:r>
          </a:p>
          <a:p>
            <a:r>
              <a:rPr sz="1100" b="0" i="1">
                <a:solidFill>
                  <a:srgbClr val="ADADAD"/>
                </a:solidFill>
                <a:latin typeface="Arial"/>
              </a:rPr>
              <a:t>"Metformin?" retrieves less than "first-line for T2DM with CKD stage 3."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04 / 10   ·   Retrieval Isn't Enough   ·   Failure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009688"/>
                </a:solidFill>
                <a:latin typeface="Arial"/>
              </a:rPr>
              <a:t>THE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5200" b="1" i="0">
                <a:solidFill>
                  <a:srgbClr val="ADADAD"/>
                </a:solidFill>
                <a:latin typeface="Arial"/>
              </a:rPr>
              <a:t>Retrieve → </a:t>
            </a:r>
            <a:r>
              <a:rPr sz="5200" b="1" i="0">
                <a:solidFill>
                  <a:srgbClr val="009688"/>
                </a:solidFill>
                <a:latin typeface="Arial"/>
              </a:rPr>
              <a:t>Grade → Correct → </a:t>
            </a:r>
            <a:r>
              <a:rPr sz="5200" b="1" i="0">
                <a:solidFill>
                  <a:srgbClr val="FFFFFF"/>
                </a:solidFill>
                <a:latin typeface="Arial"/>
              </a:rPr>
              <a:t>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400" b="0" i="1">
                <a:solidFill>
                  <a:srgbClr val="ADADAD"/>
                </a:solidFill>
                <a:latin typeface="Arial"/>
              </a:rPr>
              <a:t>Yan et al., 2024 — Corrective Retrieval 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05 / 10   ·   Retrieval Isn't Enough   ·   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CRAG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Grade first. Correct if needed. Then generate.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Retrieve  (score)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60020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Grade each doc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60020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1883664.0"/>
            <a:ext cx="182880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1883664.0"/>
            <a:ext cx="182879" cy="0.0"/>
          </a:xfrm>
          <a:prstGeom prst="line">
            <a:avLst/>
          </a:prstGeom>
          <a:ln w="19050">
            <a:solidFill>
              <a:srgbClr val="00968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577840" y="160020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Generate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600200"/>
            <a:ext cx="155448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Answer + cites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799" y="1883664.0"/>
            <a:ext cx="320041" cy="0.0"/>
          </a:xfrm>
          <a:prstGeom prst="line">
            <a:avLst/>
          </a:prstGeom>
          <a:ln w="19050">
            <a:solidFill>
              <a:srgbClr val="4DD0E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1883664.0"/>
            <a:ext cx="182880" cy="0.0"/>
          </a:xfrm>
          <a:prstGeom prst="line">
            <a:avLst/>
          </a:prstGeom>
          <a:ln w="19050">
            <a:solidFill>
              <a:srgbClr val="4DD0E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577840" y="128016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0" i="1">
                <a:solidFill>
                  <a:srgbClr val="4DD0E1"/>
                </a:solidFill>
                <a:latin typeface="Arial"/>
              </a:rPr>
              <a:t>relevance ≥ threshold  → 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306324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Rewrite query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063240"/>
            <a:ext cx="1508760" cy="566928"/>
          </a:xfrm>
          <a:prstGeom prst="rect">
            <a:avLst/>
          </a:prstGeom>
          <a:solidFill>
            <a:srgbClr val="303030"/>
          </a:solidFill>
          <a:ln w="9525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Web search  (Tavily)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03419.0" y="2167128"/>
            <a:ext cx="0.0" cy="896112"/>
          </a:xfrm>
          <a:prstGeom prst="line">
            <a:avLst/>
          </a:prstGeom>
          <a:ln w="19050">
            <a:solidFill>
              <a:srgbClr val="FFAB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57799" y="3346704.0"/>
            <a:ext cx="320041" cy="0.0"/>
          </a:xfrm>
          <a:prstGeom prst="line">
            <a:avLst/>
          </a:prstGeom>
          <a:ln w="19050">
            <a:solidFill>
              <a:srgbClr val="FFAB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6332220.0" y="2167128"/>
            <a:ext cx="754380.0" cy="1179576.0"/>
          </a:xfrm>
          <a:prstGeom prst="line">
            <a:avLst/>
          </a:prstGeom>
          <a:ln w="19050">
            <a:solidFill>
              <a:srgbClr val="FFAB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49039" y="3675888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0" i="1">
                <a:solidFill>
                  <a:srgbClr val="FFAB40"/>
                </a:solidFill>
                <a:latin typeface="Arial"/>
              </a:rPr>
              <a:t>irrelevant  →  correct with web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ADADAD"/>
                </a:solidFill>
                <a:latin typeface="Arial"/>
              </a:rPr>
              <a:t>Grader is one batched LLM call for k passages.  Rewriter runs only when relevance is low.  Confidence = f(top retrieval score).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06 / 10   ·   Retrieval Isn't Enough   ·   CRAG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IMPLEMENTATIONS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Three ways to build CRAG in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2743200" cy="3108960"/>
          </a:xfrm>
          <a:prstGeom prst="rect">
            <a:avLst/>
          </a:prstGeom>
          <a:solidFill>
            <a:srgbClr val="2A2A2A"/>
          </a:solidFill>
          <a:ln w="9525">
            <a:solidFill>
              <a:srgbClr val="ADAD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28016" bIns="73152" wrap="square"/>
          <a:lstStyle/>
          <a:p>
            <a:pPr algn="ctr"/>
            <a:r>
              <a:rPr sz="1500" b="1" i="0">
                <a:solidFill>
                  <a:srgbClr val="ADADAD"/>
                </a:solidFill>
                <a:latin typeface="Arial"/>
              </a:rPr>
              <a:t>A · Paper-faithful</a:t>
            </a:r>
          </a:p>
          <a:p>
            <a:pPr>
              <a:spcAft>
                <a:spcPts val="800"/>
              </a:spcAft>
            </a:pPr>
            <a:r>
              <a:rPr sz="1000" b="0" i="1">
                <a:solidFill>
                  <a:srgbClr val="ADADAD"/>
                </a:solidFill>
                <a:latin typeface="Arial"/>
              </a:rPr>
              <a:t>Yan et al., 2024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FLOW</a:t>
            </a:r>
          </a:p>
          <a:p>
            <a:r>
              <a:rPr sz="1000" b="0" i="0">
                <a:solidFill>
                  <a:srgbClr val="FFFFFF"/>
                </a:solidFill>
                <a:latin typeface="Consolas"/>
              </a:rPr>
              <a:t>retrieve → grade → rewrite → web → generate → LLM-audit confidence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900" b="1" i="0">
                <a:solidFill>
                  <a:srgbClr val="66BB6A"/>
                </a:solidFill>
                <a:latin typeface="Arial"/>
              </a:rPr>
              <a:t>PROS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Most rigorous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Independent auditor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900" b="1" i="0">
                <a:solidFill>
                  <a:srgbClr val="EF5350"/>
                </a:solidFill>
                <a:latin typeface="Arial"/>
              </a:rPr>
              <a:t>CONS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–  4–5 LLM calls / query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–  No streaming — blocking wait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463040"/>
            <a:ext cx="2743200" cy="3108960"/>
          </a:xfrm>
          <a:prstGeom prst="rect">
            <a:avLst/>
          </a:prstGeom>
          <a:solidFill>
            <a:srgbClr val="2A2A2A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28016" bIns="73152" wrap="square"/>
          <a:lstStyle/>
          <a:p>
            <a:pPr algn="ctr"/>
            <a:r>
              <a:rPr sz="1500" b="1" i="0">
                <a:solidFill>
                  <a:srgbClr val="009688"/>
                </a:solidFill>
                <a:latin typeface="Arial"/>
              </a:rPr>
              <a:t>B · Streamed + heuristic</a:t>
            </a:r>
          </a:p>
          <a:p>
            <a:pPr>
              <a:spcAft>
                <a:spcPts val="800"/>
              </a:spcAft>
            </a:pPr>
            <a:r>
              <a:rPr sz="1000" b="0" i="1">
                <a:solidFill>
                  <a:srgbClr val="ADADAD"/>
                </a:solidFill>
                <a:latin typeface="Arial"/>
              </a:rPr>
              <a:t>what we built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FLOW</a:t>
            </a:r>
          </a:p>
          <a:p>
            <a:r>
              <a:rPr sz="1000" b="0" i="0">
                <a:solidFill>
                  <a:srgbClr val="FFFFFF"/>
                </a:solidFill>
                <a:latin typeface="Consolas"/>
              </a:rPr>
              <a:t>retrieve (with score) → topic gate → grade → maybe correct → stream generate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900" b="1" i="0">
                <a:solidFill>
                  <a:srgbClr val="66BB6A"/>
                </a:solidFill>
                <a:latin typeface="Arial"/>
              </a:rPr>
              <a:t>PROS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2–3 LLM calls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TTFT &lt; 1s (real streaming)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Score-based topic gate is free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900" b="1" i="0">
                <a:solidFill>
                  <a:srgbClr val="EF5350"/>
                </a:solidFill>
                <a:latin typeface="Arial"/>
              </a:rPr>
              <a:t>CONS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–  Confidence is heuristic, not LLM-audited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59" y="1463040"/>
            <a:ext cx="2743200" cy="3108960"/>
          </a:xfrm>
          <a:prstGeom prst="rect">
            <a:avLst/>
          </a:prstGeom>
          <a:solidFill>
            <a:srgbClr val="2A2A2A"/>
          </a:solidFill>
          <a:ln w="9525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37160" tIns="128016" bIns="73152" wrap="square"/>
          <a:lstStyle/>
          <a:p>
            <a:pPr algn="ctr"/>
            <a:r>
              <a:rPr sz="1500" b="1" i="0">
                <a:solidFill>
                  <a:srgbClr val="4DD0E1"/>
                </a:solidFill>
                <a:latin typeface="Arial"/>
              </a:rPr>
              <a:t>C · Domain-restricted CRAG</a:t>
            </a:r>
          </a:p>
          <a:p>
            <a:pPr>
              <a:spcAft>
                <a:spcPts val="800"/>
              </a:spcAft>
            </a:pPr>
            <a:r>
              <a:rPr sz="1000" b="0" i="1">
                <a:solidFill>
                  <a:srgbClr val="ADADAD"/>
                </a:solidFill>
                <a:latin typeface="Arial"/>
              </a:rPr>
              <a:t>B + Tavily allowlist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ADADAD"/>
                </a:solidFill>
                <a:latin typeface="Arial"/>
              </a:rPr>
              <a:t>FLOW</a:t>
            </a:r>
          </a:p>
          <a:p>
            <a:r>
              <a:rPr sz="1000" b="0" i="0">
                <a:solidFill>
                  <a:srgbClr val="FFFFFF"/>
                </a:solidFill>
                <a:latin typeface="Consolas"/>
              </a:rPr>
              <a:t>same as B, web search locked to PubMed / NIH / WHO / Cochrane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900" b="1" i="0">
                <a:solidFill>
                  <a:srgbClr val="66BB6A"/>
                </a:solidFill>
                <a:latin typeface="Arial"/>
              </a:rPr>
              <a:t>PROS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Safe web fallback for regulated corpora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+  No extra LLM cost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900" b="1" i="0">
                <a:solidFill>
                  <a:srgbClr val="EF5350"/>
                </a:solidFill>
                <a:latin typeface="Arial"/>
              </a:rPr>
              <a:t>CONS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–  Fewer web hits</a:t>
            </a:r>
          </a:p>
          <a:p>
            <a:r>
              <a:rPr sz="1100" b="0" i="0">
                <a:solidFill>
                  <a:srgbClr val="FFFFFF"/>
                </a:solidFill>
                <a:latin typeface="Arial"/>
              </a:rPr>
              <a:t>–  Requires curated domain list per vertical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07 / 10   ·   Retrieval Isn't Enough   ·   Implementations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COST &amp; LATENCY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The numbers that actually decide 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59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81199"/>
                <a:gridCol w="1981199"/>
                <a:gridCol w="1981199"/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A · Paper-faithful</a:t>
                      </a:r>
                    </a:p>
                  </a:txBody>
                  <a:tcPr marL="91440" marR="91440" marT="45720" marB="4572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Arial"/>
                        </a:rPr>
                        <a:t>B · Streamed heuristic</a:t>
                      </a:r>
                    </a:p>
                  </a:txBody>
                  <a:tcPr marL="91440" marR="91440" marT="45720" marB="45720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C · Domain-restricted</a:t>
                      </a:r>
                    </a:p>
                  </a:txBody>
                  <a:tcPr marL="91440" marR="91440" marT="45720" marB="45720">
                    <a:solidFill>
                      <a:srgbClr val="1E1E1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LLM calls / happy query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3–4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LLM calls / correction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4–5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LLM calls / off-topic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Time-to-first-word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5–10 s (blocking)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0.4–0.8 s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0.4–0.8 s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Wall-clock happy query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8–15 s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4–8 s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4–8 s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Confidence signal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LLM self-audit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top-cosine × 1.2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top-cosine × 1.2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DADAD"/>
                          </a:solidFill>
                          <a:latin typeface="Arial"/>
                        </a:rPr>
                        <a:t>Off-topic behaviour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Answers anyway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Refuses for free</a:t>
                      </a:r>
                    </a:p>
                  </a:txBody>
                  <a:tcPr marL="91440" marR="91440" marT="45720" marB="45720">
                    <a:solidFill>
                      <a:srgbClr val="003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Consolas"/>
                        </a:rPr>
                        <a:t>Refuses for free</a:t>
                      </a:r>
                    </a:p>
                  </a:txBody>
                  <a:tcPr marL="91440" marR="91440" marT="45720" marB="45720"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0" i="1">
                <a:solidFill>
                  <a:srgbClr val="ADADAD"/>
                </a:solidFill>
                <a:latin typeface="Arial"/>
              </a:rPr>
              <a:t>Column B is what shipped. See next slide for why.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08 / 10   ·   Retrieval Isn't Enough   ·  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09688"/>
                </a:solidFill>
                <a:latin typeface="Arial"/>
              </a:rP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Ship Architecture B.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400" b="0" i="1">
                <a:solidFill>
                  <a:srgbClr val="ADADAD"/>
                </a:solidFill>
                <a:latin typeface="Arial"/>
              </a:rPr>
              <a:t>40–50% fewer LLM calls than paper-faithful. TTFT under a second. Off-topic questions refused for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606040" cy="1645920"/>
          </a:xfrm>
          <a:prstGeom prst="rect">
            <a:avLst/>
          </a:prstGeom>
          <a:solidFill>
            <a:srgbClr val="2A2A2A"/>
          </a:solidFill>
          <a:ln w="9525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4800" b="1" i="0">
                <a:solidFill>
                  <a:srgbClr val="009688"/>
                </a:solidFill>
                <a:latin typeface="Arial"/>
              </a:rPr>
              <a:t>−50%</a:t>
            </a:r>
          </a:p>
          <a:p>
            <a:pPr algn="ctr"/>
            <a:r>
              <a:rPr sz="1200" b="0" i="0">
                <a:solidFill>
                  <a:srgbClr val="ADADAD"/>
                </a:solidFill>
                <a:latin typeface="Arial"/>
              </a:rPr>
              <a:t>LLM cost per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2103120"/>
            <a:ext cx="2606040" cy="1645920"/>
          </a:xfrm>
          <a:prstGeom prst="rect">
            <a:avLst/>
          </a:prstGeom>
          <a:solidFill>
            <a:srgbClr val="2A2A2A"/>
          </a:solidFill>
          <a:ln w="9525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4800" b="1" i="0">
                <a:solidFill>
                  <a:srgbClr val="FFAB40"/>
                </a:solidFill>
                <a:latin typeface="Arial"/>
              </a:rPr>
              <a:t>&lt; 1 s</a:t>
            </a:r>
          </a:p>
          <a:p>
            <a:pPr algn="ctr"/>
            <a:r>
              <a:rPr sz="1200" b="0" i="0">
                <a:solidFill>
                  <a:srgbClr val="ADADAD"/>
                </a:solidFill>
                <a:latin typeface="Arial"/>
              </a:rPr>
              <a:t>Time-to-first-word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2103120"/>
            <a:ext cx="2606040" cy="1645920"/>
          </a:xfrm>
          <a:prstGeom prst="rect">
            <a:avLst/>
          </a:prstGeom>
          <a:solidFill>
            <a:srgbClr val="2A2A2A"/>
          </a:solidFill>
          <a:ln w="9525">
            <a:solidFill>
              <a:srgbClr val="4DD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4800" b="1" i="0">
                <a:solidFill>
                  <a:srgbClr val="4DD0E1"/>
                </a:solidFill>
                <a:latin typeface="Arial"/>
              </a:rPr>
              <a:t>0</a:t>
            </a:r>
          </a:p>
          <a:p>
            <a:pPr algn="ctr"/>
            <a:r>
              <a:rPr sz="1200" b="0" i="0">
                <a:solidFill>
                  <a:srgbClr val="ADADAD"/>
                </a:solidFill>
                <a:latin typeface="Arial"/>
              </a:rPr>
              <a:t>Calls when off-topic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09688"/>
                </a:solidFill>
                <a:latin typeface="Arial"/>
              </a:rPr>
              <a:t>Why B beats A and C in this build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Retrieval score IS a topic gate — no LLM classifier needed.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Streaming inverts the latency problem: user reads while model finishes.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•  Add C's Tavily allowlist only if your vertical demands regulated sources.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09 / 10   ·   Retrieval Isn't Enough   ·  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200" b="1" i="0">
                <a:solidFill>
                  <a:srgbClr val="009688"/>
                </a:solidFill>
                <a:latin typeface="Arial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Live demo.</a:t>
            </a:r>
          </a:p>
          <a:p>
            <a:r>
              <a:rPr sz="3200" b="0" i="1">
                <a:solidFill>
                  <a:srgbClr val="ADADAD"/>
                </a:solidFill>
                <a:latin typeface="Arial"/>
              </a:rPr>
              <a:t>Then your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100" b="0" i="1">
                <a:solidFill>
                  <a:srgbClr val="ADADAD"/>
                </a:solidFill>
                <a:latin typeface="Arial"/>
              </a:rPr>
              <a:t>Healthcare Knowledge Navigator  ·  RAG + CRAG  ·  Gemini · NVIDIA ·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l"/>
            <a:r>
              <a:rPr sz="900" b="0" i="0">
                <a:solidFill>
                  <a:srgbClr val="ADADAD"/>
                </a:solidFill>
                <a:latin typeface="Arial"/>
              </a:rPr>
              <a:t>10 / 10   ·   Retrieval Isn't Enough   ·  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